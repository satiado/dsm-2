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0" r:id="rId3"/>
    <p:sldId id="275" r:id="rId4"/>
    <p:sldId id="272" r:id="rId5"/>
    <p:sldId id="276" r:id="rId6"/>
    <p:sldId id="277" r:id="rId7"/>
    <p:sldId id="278" r:id="rId8"/>
    <p:sldId id="279" r:id="rId9"/>
    <p:sldId id="264" r:id="rId10"/>
    <p:sldId id="280" r:id="rId11"/>
    <p:sldId id="282" r:id="rId12"/>
    <p:sldId id="281" r:id="rId13"/>
    <p:sldId id="283" r:id="rId14"/>
    <p:sldId id="284" r:id="rId15"/>
    <p:sldId id="285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27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31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74870-BBE9-4BD5-846D-B155B3EBE7C1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57CFE-3943-4945-8443-500FB32502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08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BDA10-00E0-45D7-91E6-E955A81D1B17}" type="datetime1">
              <a:rPr lang="pt-BR" smtClean="0"/>
              <a:t>02/08/2026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CD379-2807-4787-A4BE-ECAC19D49438}" type="datetime1">
              <a:rPr lang="pt-BR" smtClean="0"/>
              <a:t>02/08/2026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7C034-0DE3-494B-B7D3-61B4399AF3A9}" type="datetime1">
              <a:rPr lang="pt-BR" smtClean="0"/>
              <a:t>02/08/2026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5B55-F065-4A08-A83F-ACDA411131B6}" type="datetime1">
              <a:rPr lang="pt-BR" smtClean="0"/>
              <a:t>02/08/2026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F807-C119-410E-883A-EFAD47B83304}" type="datetime1">
              <a:rPr lang="pt-BR" smtClean="0"/>
              <a:t>02/08/2026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0DED-868C-4B3E-907F-1FA0DDFEF19A}" type="datetime1">
              <a:rPr lang="pt-BR" smtClean="0"/>
              <a:t>02/08/2026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463C-EAF7-4215-BEF9-71A4AF9608FB}" type="datetime1">
              <a:rPr lang="pt-BR" smtClean="0"/>
              <a:t>02/08/2026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99CC1-7984-4601-A39B-2D7B0F99E7FA}" type="datetime1">
              <a:rPr lang="pt-BR" smtClean="0"/>
              <a:t>02/08/2026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C41D-73C5-4F37-90DB-66C49BF4251D}" type="datetime1">
              <a:rPr lang="pt-BR" smtClean="0"/>
              <a:t>02/08/2026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8142-B937-4A0E-8730-223D7E82DFC6}" type="datetime1">
              <a:rPr lang="pt-BR" smtClean="0"/>
              <a:t>02/08/2026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7B0C-3669-464C-BB06-1279E0CFE9AF}" type="datetime1">
              <a:rPr lang="pt-BR" smtClean="0"/>
              <a:t>02/08/2026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44418-FFE9-4666-8473-4356086058F7}" type="datetime1">
              <a:rPr lang="pt-BR" smtClean="0"/>
              <a:t>02/08/2026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F5B44C4-32E8-5ABD-BB78-D1FB5796935E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/>
          <p:cNvSpPr txBox="1"/>
          <p:nvPr/>
        </p:nvSpPr>
        <p:spPr>
          <a:xfrm>
            <a:off x="0" y="2369939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i="0" u="none" dirty="0">
                <a:latin typeface="Montserrat"/>
              </a:rPr>
              <a:t>LÓGICA MATEMÁTICA</a:t>
            </a:r>
            <a:endParaRPr sz="4800" b="1" i="0" u="none" dirty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8771" y="3901380"/>
            <a:ext cx="12200771" cy="36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pt-BR" sz="1950" b="1" dirty="0">
                <a:solidFill>
                  <a:srgbClr val="BF0000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ARGUMENTO LÓGICO – PROPOSIÇÕES E CONECTIVOS – TABELA VERDADE</a:t>
            </a:r>
            <a:endParaRPr sz="1950" b="1" dirty="0">
              <a:solidFill>
                <a:srgbClr val="B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E8F467A-391E-54FA-BA09-075DAD2E86E1}"/>
              </a:ext>
            </a:extLst>
          </p:cNvPr>
          <p:cNvCxnSpPr>
            <a:cxnSpLocks/>
          </p:cNvCxnSpPr>
          <p:nvPr/>
        </p:nvCxnSpPr>
        <p:spPr>
          <a:xfrm>
            <a:off x="0" y="658368"/>
            <a:ext cx="1218322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CAADE71E-0F3B-8845-D9F9-60929C720797}"/>
              </a:ext>
            </a:extLst>
          </p:cNvPr>
          <p:cNvSpPr/>
          <p:nvPr/>
        </p:nvSpPr>
        <p:spPr>
          <a:xfrm>
            <a:off x="-8771" y="6271319"/>
            <a:ext cx="12192000" cy="5745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spaço Reservado para Rodapé 11">
            <a:extLst>
              <a:ext uri="{FF2B5EF4-FFF2-40B4-BE49-F238E27FC236}">
                <a16:creationId xmlns:a16="http://schemas.microsoft.com/office/drawing/2014/main" id="{45FBC898-0A40-57D2-B1ED-316F602A674C}"/>
              </a:ext>
            </a:extLst>
          </p:cNvPr>
          <p:cNvSpPr txBox="1">
            <a:spLocks/>
          </p:cNvSpPr>
          <p:nvPr/>
        </p:nvSpPr>
        <p:spPr>
          <a:xfrm>
            <a:off x="7766620" y="6292623"/>
            <a:ext cx="2895600" cy="549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PROFª THISSIANY BEATRIZ ALMEIDA</a:t>
            </a:r>
          </a:p>
        </p:txBody>
      </p:sp>
      <p:sp>
        <p:nvSpPr>
          <p:cNvPr id="18" name="Espaço Reservado para Rodapé 11">
            <a:extLst>
              <a:ext uri="{FF2B5EF4-FFF2-40B4-BE49-F238E27FC236}">
                <a16:creationId xmlns:a16="http://schemas.microsoft.com/office/drawing/2014/main" id="{12A0D693-BB7A-BB1E-0E6D-014AE3ECA411}"/>
              </a:ext>
            </a:extLst>
          </p:cNvPr>
          <p:cNvSpPr txBox="1">
            <a:spLocks/>
          </p:cNvSpPr>
          <p:nvPr/>
        </p:nvSpPr>
        <p:spPr>
          <a:xfrm>
            <a:off x="1452878" y="6292623"/>
            <a:ext cx="5030536" cy="559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MATEMÁTICA PARA COMPUTAÇÃO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238B18-1287-1823-AC7D-964EA007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00159"/>
            <a:ext cx="4693547" cy="729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1140-5F90-8B92-3C88-91D7FB60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866147B-50B0-1567-1186-AAB0D37AB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E8350B-1EBA-56C1-7353-2BE2357CBA14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ROTEIRO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A4FEB53F-E91D-AB68-33B7-BE2858CCB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AF5F9CF2-E8C3-27AC-F85E-55BA076DFA2C}"/>
              </a:ext>
            </a:extLst>
          </p:cNvPr>
          <p:cNvSpPr txBox="1"/>
          <p:nvPr/>
        </p:nvSpPr>
        <p:spPr>
          <a:xfrm>
            <a:off x="941536" y="1512892"/>
            <a:ext cx="10360448" cy="4326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ARGUMENTO LÓGICO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LÓGICA MATEMÁTICA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PROPOSIÇÕES E CONECTIVOS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TABELA-VERDADE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ORDEM DE PRECEDÊNCIA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TAUTO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LOGIA</a:t>
            </a:r>
            <a:endParaRPr lang="pt-BR" sz="2400" b="0" i="1" u="none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EDE5D-2582-42F0-F185-E5E9A8FAC0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C0504D">
                <a:shade val="45000"/>
                <a:satMod val="135000"/>
              </a:srgbClr>
              <a:prstClr val="white"/>
            </a:duotone>
          </a:blip>
          <a:srcRect t="11545" b="9555"/>
          <a:stretch>
            <a:fillRect/>
          </a:stretch>
        </p:blipFill>
        <p:spPr>
          <a:xfrm>
            <a:off x="6857752" y="2032941"/>
            <a:ext cx="3928444" cy="359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5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51CE-EAB7-E6A6-4F7B-1A70E6E6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FAEE11C-B594-0BCA-627C-17F3EDA1DA0E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AEEA22E-A0BE-BFB3-A084-C3E83775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C48B88-9D29-D61C-0CD9-1239A96A1B80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ARGUMENTO</a:t>
            </a:r>
            <a:r>
              <a:rPr lang="pt-BR" sz="4800" b="1" dirty="0">
                <a:solidFill>
                  <a:srgbClr val="C00000"/>
                </a:solidFill>
                <a:latin typeface="Montserrat"/>
              </a:rPr>
              <a:t> </a:t>
            </a:r>
            <a:r>
              <a:rPr lang="pt-BR" sz="4800" b="1" dirty="0">
                <a:latin typeface="Montserrat"/>
              </a:rPr>
              <a:t>LÓGICO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AE63D5B-9606-C1A3-8587-C2A07C7FBFC2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99440155-EA87-B8D4-068B-F5C11DA532F4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F1C1CA21-6B0E-1822-6341-2F87518408B2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96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97DB9-88F4-A809-3363-BB864234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57CD8B6-2DE9-EC28-5C7F-CC447ABF3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2EB2E0-E530-5BDF-4D6B-E755410A542F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ARGUMENTO LÓGICO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C99BA9A6-03E6-A01F-B43E-2D2241EDE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D1B2F668-52CC-AC5D-7C5B-29EAD472327D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Um argumento lógico funciona como um caminho. As premissas são o ponto de partida e a conclusão é o destino. Se o caminho foi construído corretamente, a conclusão é uma consequência das informações iniciais.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08A02-656F-17B8-81B1-EF5062263D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065" b="21776"/>
          <a:stretch>
            <a:fillRect/>
          </a:stretch>
        </p:blipFill>
        <p:spPr>
          <a:xfrm>
            <a:off x="2480321" y="4131640"/>
            <a:ext cx="7231358" cy="195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39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C21F-E455-16FE-647B-144C0E21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472BDD6-7603-1459-F906-DF1106B3A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6A65B9-E0D9-3113-7258-D8BE5688CFFE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ARGUMENTO LÓGICO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91B3C0E4-13CF-4551-58FA-26F48CCD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4D6E7A-D2B3-326D-5608-41A7787F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5" t="19861" r="1693" b="3757"/>
          <a:stretch>
            <a:fillRect/>
          </a:stretch>
        </p:blipFill>
        <p:spPr>
          <a:xfrm>
            <a:off x="1543049" y="1690015"/>
            <a:ext cx="9658351" cy="431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0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876E-77C0-8CFF-121E-FD71864CB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6D7FBF9-B93C-1007-2DEC-0C2A5F115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91D0EC-43BE-0689-A096-113ACC4FCDF9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SILOGISMO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3E023165-7319-BC5D-59AA-8F8CDB131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B142854F-3CF8-95C6-957D-E5288D5EF1CD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Silogismo é um argumento lógico formado por duas premissas e uma conclusão. Quando a conclusão decorre obrigatoriamente das premissas, o silogismo é considerado válido.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E4EEC-B783-FC1D-FDCC-D38A4C59BFB2}"/>
              </a:ext>
            </a:extLst>
          </p:cNvPr>
          <p:cNvSpPr txBox="1"/>
          <p:nvPr/>
        </p:nvSpPr>
        <p:spPr>
          <a:xfrm>
            <a:off x="571500" y="3845688"/>
            <a:ext cx="11049001" cy="2203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P1: Todos os homens são peixes</a:t>
            </a:r>
          </a:p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P2: Nenhum peixe é animal</a:t>
            </a:r>
          </a:p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C: Nenhum homem é animal</a:t>
            </a:r>
          </a:p>
        </p:txBody>
      </p:sp>
    </p:spTree>
    <p:extLst>
      <p:ext uri="{BB962C8B-B14F-4D97-AF65-F5344CB8AC3E}">
        <p14:creationId xmlns:p14="http://schemas.microsoft.com/office/powerpoint/2010/main" val="286170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563E-9D3B-9948-46B7-C2E1D0B7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2B52CDB-84CC-8103-8A55-D616514CC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3F0E7F-3657-6815-8F54-C41FBCBB8D6C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FALÁCIA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47806CF7-B643-C57C-78F0-93FA0E5B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B0FF149-B2D4-B119-26AB-187000DBEAFF}"/>
              </a:ext>
            </a:extLst>
          </p:cNvPr>
          <p:cNvSpPr txBox="1"/>
          <p:nvPr/>
        </p:nvSpPr>
        <p:spPr>
          <a:xfrm>
            <a:off x="941536" y="1512892"/>
            <a:ext cx="10360448" cy="137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Falácia é um erro de raciocínio. As premissas podem até parecer corretas, mas a conclusão não é garantida pelas informações apresentadas.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1F392-43F2-A03C-B940-805BE4EFD386}"/>
              </a:ext>
            </a:extLst>
          </p:cNvPr>
          <p:cNvSpPr txBox="1"/>
          <p:nvPr/>
        </p:nvSpPr>
        <p:spPr>
          <a:xfrm>
            <a:off x="600454" y="3428328"/>
            <a:ext cx="11049001" cy="2203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P1: Todo programador usa computador.</a:t>
            </a:r>
          </a:p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P2: Maria usa computador.</a:t>
            </a:r>
          </a:p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C: Maria é programadora.</a:t>
            </a:r>
          </a:p>
        </p:txBody>
      </p:sp>
    </p:spTree>
    <p:extLst>
      <p:ext uri="{BB962C8B-B14F-4D97-AF65-F5344CB8AC3E}">
        <p14:creationId xmlns:p14="http://schemas.microsoft.com/office/powerpoint/2010/main" val="214307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4EB2-C420-5393-285E-50076A89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92165C8-9C4E-A896-868F-956A234F57D3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AC05F5B-C92D-3B41-3516-F2B5F0BB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BD0506-F3B9-D4A8-DA59-FECD28C64E44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LÓGICA MATEMÁTICA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9D56D96-7F10-3AF1-35AE-BF63BFB87691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A16C8490-CB23-E791-82F5-228CC4DE5E7D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8A771593-E9C8-F2AB-6A94-879BA09A8961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9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77E5-49FC-F9CA-143B-77FBD8D9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9AE29F0-03B8-E50D-95F0-4728201AF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4B24B2-F9AD-F8FD-19BA-BD2AB4697A7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LÓGICA MATEMÁTICA</a:t>
            </a:r>
            <a:endParaRPr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9317BF86-DF8C-99B6-9DB0-33F800E5B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68325"/>
            <a:ext cx="11169396" cy="4787926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9E69047D-E974-B118-B0A9-81C5BF2C0097}"/>
              </a:ext>
            </a:extLst>
          </p:cNvPr>
          <p:cNvSpPr txBox="1"/>
          <p:nvPr/>
        </p:nvSpPr>
        <p:spPr>
          <a:xfrm>
            <a:off x="571500" y="1806475"/>
            <a:ext cx="658825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100" b="1" i="0" u="none" dirty="0">
                <a:solidFill>
                  <a:srgbClr val="BF0000"/>
                </a:solidFill>
                <a:latin typeface="Montserrat"/>
              </a:rPr>
              <a:t>Como o carro autonômo toma deci</a:t>
            </a:r>
            <a:r>
              <a:rPr lang="pt-BR" sz="2100" b="1" dirty="0">
                <a:solidFill>
                  <a:srgbClr val="BF0000"/>
                </a:solidFill>
                <a:latin typeface="Montserrat"/>
              </a:rPr>
              <a:t>sões?</a:t>
            </a:r>
            <a:endParaRPr sz="2100" b="1" i="0" u="none" dirty="0">
              <a:solidFill>
                <a:srgbClr val="BF0000"/>
              </a:solidFill>
              <a:latin typeface="Montserrat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F3C8874-92A3-CFC7-A2AB-F6A5A46AF39B}"/>
              </a:ext>
            </a:extLst>
          </p:cNvPr>
          <p:cNvSpPr txBox="1"/>
          <p:nvPr/>
        </p:nvSpPr>
        <p:spPr>
          <a:xfrm>
            <a:off x="936830" y="2412375"/>
            <a:ext cx="6222922" cy="371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i="1" dirty="0">
                <a:solidFill>
                  <a:srgbClr val="333333"/>
                </a:solidFill>
                <a:latin typeface="Open Sans"/>
              </a:rPr>
              <a:t>Imagine que um carro autônomo precise decidir:  </a:t>
            </a:r>
            <a:endParaRPr b="0" i="1" u="none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53B29-1F74-4947-2C8E-93FBC7D06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674" y="3114146"/>
            <a:ext cx="3949903" cy="2711589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C61796-165E-ADF2-54D0-3BF2DB955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255" y="2014289"/>
            <a:ext cx="3667242" cy="38167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65480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2AD9-829F-EC45-63F3-DED43A28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F5B6F57-85D2-666F-4AC9-4A971AB6E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8F463A-DF0B-41FF-12DC-B6863C8574D5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LÓGICA MATEMÁTICA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213407F5-3136-E151-DA2E-80312E82E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EDA343F3-A687-0690-21A5-8F0C0282A050}"/>
              </a:ext>
            </a:extLst>
          </p:cNvPr>
          <p:cNvSpPr txBox="1"/>
          <p:nvPr/>
        </p:nvSpPr>
        <p:spPr>
          <a:xfrm>
            <a:off x="941536" y="1512892"/>
            <a:ext cx="10360448" cy="2849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A Lógica Matemática é a linguagem utilizada pelos computadores para tomar decisões. Ela transforma informações em regras que permitem determinar se uma afirmação é verdadeira ou falsa e como chegar a uma conclusão.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5" name="Picture 2" descr="icono del concepto de lógica. Ilustración de línea fina de proceso de ...">
            <a:extLst>
              <a:ext uri="{FF2B5EF4-FFF2-40B4-BE49-F238E27FC236}">
                <a16:creationId xmlns:a16="http://schemas.microsoft.com/office/drawing/2014/main" id="{ADFFEC84-BB58-850D-4C89-FFF37262B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7" t="9183" r="17347" b="30218"/>
          <a:stretch>
            <a:fillRect/>
          </a:stretch>
        </p:blipFill>
        <p:spPr bwMode="auto">
          <a:xfrm>
            <a:off x="5029608" y="4223922"/>
            <a:ext cx="2132784" cy="197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5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6AE6-94DE-5C0C-9711-D57A8406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994CAC8-3912-6ED9-5B29-62529D0CF91A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19A23BE-4CB9-96EA-1124-1E9AB7BD9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9FF7ED-29AF-7A08-1368-E999D738A4F4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PROPOSIÇÕES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091BAF9-B543-89ED-3DF4-390EFAC523FD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63D5DA5E-603B-C715-0CBF-81438E3EE318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DFA0AF68-0C15-138C-7DCF-CDDE856A435D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712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4D657-F515-9EB0-59D9-3CD0100C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9CC869E-B8F3-EE8D-ADF8-FAB0C876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A24B4E-1FDF-3CAE-E7F3-50AA35674546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PROPOSIÇÕES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F6DE8D7D-5BBB-11DE-A732-BE971BB26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3747DBF6-058A-6D9F-4C28-B074B8CC1678}"/>
              </a:ext>
            </a:extLst>
          </p:cNvPr>
          <p:cNvSpPr txBox="1"/>
          <p:nvPr/>
        </p:nvSpPr>
        <p:spPr>
          <a:xfrm>
            <a:off x="941536" y="1512892"/>
            <a:ext cx="10360448" cy="4326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Uma proposição é uma frase que faz uma afirmação sobre alguma coisa e que pode ser classificada como verdadeira ou falsa. 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Normalmente é representada por letras minúsculas, como: p e q.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As proposições podem ser simples, quando apresentam apenas uma sentença, e compostas quando são formadas pela combinação de duas ou mais proposições simples.</a:t>
            </a:r>
          </a:p>
        </p:txBody>
      </p:sp>
    </p:spTree>
    <p:extLst>
      <p:ext uri="{BB962C8B-B14F-4D97-AF65-F5344CB8AC3E}">
        <p14:creationId xmlns:p14="http://schemas.microsoft.com/office/powerpoint/2010/main" val="1107707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AB9FF-4CE2-8003-DC21-C101E4A1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309E901-BC85-81F8-CC91-1060DD2E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2F4106-1F64-0807-BB39-EF6863BE5AF6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PROPOSIÇÕES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C960DBC5-62EF-000B-55BC-AD8F68F8C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graphicFrame>
        <p:nvGraphicFramePr>
          <p:cNvPr id="4" name="Tabela 16">
            <a:extLst>
              <a:ext uri="{FF2B5EF4-FFF2-40B4-BE49-F238E27FC236}">
                <a16:creationId xmlns:a16="http://schemas.microsoft.com/office/drawing/2014/main" id="{94BF1C9B-0F6D-FF08-CFB9-B6D232951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3065"/>
              </p:ext>
            </p:extLst>
          </p:nvPr>
        </p:nvGraphicFramePr>
        <p:xfrm>
          <a:off x="1569423" y="2362328"/>
          <a:ext cx="9082105" cy="296672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131727">
                  <a:extLst>
                    <a:ext uri="{9D8B030D-6E8A-4147-A177-3AD203B41FA5}">
                      <a16:colId xmlns:a16="http://schemas.microsoft.com/office/drawing/2014/main" val="1915437599"/>
                    </a:ext>
                  </a:extLst>
                </a:gridCol>
                <a:gridCol w="1923010">
                  <a:extLst>
                    <a:ext uri="{9D8B030D-6E8A-4147-A177-3AD203B41FA5}">
                      <a16:colId xmlns:a16="http://schemas.microsoft.com/office/drawing/2014/main" val="1742753140"/>
                    </a:ext>
                  </a:extLst>
                </a:gridCol>
                <a:gridCol w="3027368">
                  <a:extLst>
                    <a:ext uri="{9D8B030D-6E8A-4147-A177-3AD203B41FA5}">
                      <a16:colId xmlns:a16="http://schemas.microsoft.com/office/drawing/2014/main" val="1412952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FRASE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É PROPOSIÇÃO?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É VERDADEIRA?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694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O céu é azul.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8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A Terra gira em torno do Sol.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O resultado da operação 2 + 2 é igual a  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47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Registro fica no estado de São Paulo.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63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Feche a porta.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70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Qual é o seu nome?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493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Viva a democracia!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558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027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4724-0FDA-FD5A-D5BB-A985C8B4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2781A64-2C5F-D6F2-5630-684B54552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5238AA-4259-9170-1962-A69857A6660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SIMPLES X COMPOSTA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7E44D6FC-AB9C-261A-0981-951B2EBA1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C890A-FAF3-6927-C6B4-053857225F3C}"/>
              </a:ext>
            </a:extLst>
          </p:cNvPr>
          <p:cNvSpPr txBox="1"/>
          <p:nvPr/>
        </p:nvSpPr>
        <p:spPr>
          <a:xfrm>
            <a:off x="822346" y="1552216"/>
            <a:ext cx="10586175" cy="4419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Exemplos: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O céu é azul.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SIMPLES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As nuvens são brancas.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SIMPLES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O céu é azul e as nuvens são brancas.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COMPOSTA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Toda baleia é um mamífero.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SIMPLES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Toda baleia é um mamífero e tem pulmões.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COMPOSTA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3926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79FF-2A77-7DDC-665C-C296F26A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36B77F8B-C683-4C25-1D94-76FBF1173F13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8C92733-3C67-5F76-F540-E1EDC588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6F0E7C-FB4C-27DA-69AB-C48A07072399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i="0" u="none" dirty="0">
                <a:latin typeface="Montserrat"/>
              </a:rPr>
              <a:t>CONECTIVOS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2B80154-CD41-B453-A778-D1DAE5AC8F1B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29D6CC52-366C-35E5-4C69-7CE13CA0105B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2070AE74-01C6-7155-2BEE-A76AEAA0F483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262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2696-AA20-CBA6-5E51-072338A5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DD6E796-8D72-2F46-AF6E-0BD1BE93E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6C7B23-30B8-9272-599F-05EAD653299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CO</a:t>
            </a:r>
            <a:r>
              <a:rPr lang="pt-BR" sz="3300" b="1" dirty="0">
                <a:solidFill>
                  <a:srgbClr val="121212"/>
                </a:solidFill>
                <a:latin typeface="Montserrat"/>
              </a:rPr>
              <a:t>NECTIVOS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194132F2-0869-2EA2-E24D-43EDC51BA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7E0099-C1CD-2320-2D47-37FC8FA1550C}"/>
              </a:ext>
            </a:extLst>
          </p:cNvPr>
          <p:cNvSpPr txBox="1"/>
          <p:nvPr/>
        </p:nvSpPr>
        <p:spPr>
          <a:xfrm>
            <a:off x="822346" y="1552216"/>
            <a:ext cx="10586175" cy="169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Conectivos são palavras ou símbolos que unem ou modificam proposições para formar novos raciocínios. Eles funcionam como "pontes" que ligam ideias e permitem criar expressões lógicas mais completas.</a:t>
            </a:r>
          </a:p>
        </p:txBody>
      </p:sp>
      <p:graphicFrame>
        <p:nvGraphicFramePr>
          <p:cNvPr id="4" name="Tabela 16">
            <a:extLst>
              <a:ext uri="{FF2B5EF4-FFF2-40B4-BE49-F238E27FC236}">
                <a16:creationId xmlns:a16="http://schemas.microsoft.com/office/drawing/2014/main" id="{324D98CC-A62E-5E54-761C-B28AA91CF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864903"/>
              </p:ext>
            </p:extLst>
          </p:nvPr>
        </p:nvGraphicFramePr>
        <p:xfrm>
          <a:off x="1049413" y="3478055"/>
          <a:ext cx="10359107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153739">
                  <a:extLst>
                    <a:ext uri="{9D8B030D-6E8A-4147-A177-3AD203B41FA5}">
                      <a16:colId xmlns:a16="http://schemas.microsoft.com/office/drawing/2014/main" val="1915437599"/>
                    </a:ext>
                  </a:extLst>
                </a:gridCol>
                <a:gridCol w="3191194">
                  <a:extLst>
                    <a:ext uri="{9D8B030D-6E8A-4147-A177-3AD203B41FA5}">
                      <a16:colId xmlns:a16="http://schemas.microsoft.com/office/drawing/2014/main" val="1742753140"/>
                    </a:ext>
                  </a:extLst>
                </a:gridCol>
                <a:gridCol w="1343984">
                  <a:extLst>
                    <a:ext uri="{9D8B030D-6E8A-4147-A177-3AD203B41FA5}">
                      <a16:colId xmlns:a16="http://schemas.microsoft.com/office/drawing/2014/main" val="3099049813"/>
                    </a:ext>
                  </a:extLst>
                </a:gridCol>
                <a:gridCol w="4670190">
                  <a:extLst>
                    <a:ext uri="{9D8B030D-6E8A-4147-A177-3AD203B41FA5}">
                      <a16:colId xmlns:a16="http://schemas.microsoft.com/office/drawing/2014/main" val="481729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Conectivo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Significado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Símbolos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Exemplo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694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NOT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Não (negação)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!</a:t>
                      </a:r>
                      <a:r>
                        <a:rPr lang="pt-BR" dirty="0"/>
                        <a:t>, </a:t>
                      </a:r>
                      <a:r>
                        <a:rPr lang="pt-BR" b="1" dirty="0"/>
                        <a:t>~</a:t>
                      </a:r>
                      <a:r>
                        <a:rPr lang="pt-BR" dirty="0"/>
                        <a:t>, </a:t>
                      </a:r>
                      <a:r>
                        <a:rPr lang="pt-BR" b="1" dirty="0"/>
                        <a:t>⌐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~p</a:t>
                      </a:r>
                      <a:r>
                        <a:rPr lang="pt-BR" dirty="0"/>
                        <a:t> → "Não p"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50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AND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 (conjunção)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&amp;&amp;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^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&amp;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&amp;&amp; q</a:t>
                      </a:r>
                      <a:r>
                        <a:rPr lang="pt-BR" dirty="0"/>
                        <a:t> → "p e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8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OR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Ou (disjunção)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||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∨ (v)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|| q</a:t>
                      </a:r>
                      <a:r>
                        <a:rPr lang="pt-BR" dirty="0"/>
                        <a:t> → "p ou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XOR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Ou exclusivo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⊕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XOR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XOR q</a:t>
                      </a:r>
                      <a:r>
                        <a:rPr lang="pt-BR" dirty="0"/>
                        <a:t> → "Ou p ou q, mas não os dois"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47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→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Então (condicional)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→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-&gt;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→ q</a:t>
                      </a:r>
                      <a:r>
                        <a:rPr lang="pt-BR" dirty="0"/>
                        <a:t> → "Se p, então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63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↔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Se e somente se (bicondicional)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↔</a:t>
                      </a:r>
                      <a:r>
                        <a:rPr lang="pt-BR" dirty="0"/>
                        <a:t>, </a:t>
                      </a:r>
                      <a:r>
                        <a:rPr lang="pt-BR" b="1" dirty="0"/>
                        <a:t>&lt;-&gt;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↔ q</a:t>
                      </a:r>
                      <a:r>
                        <a:rPr lang="pt-BR" dirty="0"/>
                        <a:t> → "p se e somente se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70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8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63A1-C34B-88F2-8E93-99C12D825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BBADDED-84A2-22CA-2FA2-124E96C734C1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1B523ED-2AD6-0BF0-BE33-0EF0E28A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5D674E-8728-3ADB-9377-A27314064A82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TABELA-VERDADE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9763C43-2737-A7DF-58EE-C3876CB7030C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144C7B9F-C894-D368-43EA-589FB88A24BA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AE0FFDDB-22BC-BE18-0FCD-5E1796915477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475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E74C2-1427-E858-1987-2E30C6AF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05C4A3D-404D-D85C-B62F-33ED9B54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882D68-D4AA-3986-BA8B-F5B12476E64A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TABELA-VERDADE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4F4EDA2A-EBEF-6B76-4D06-0CC2CA6D4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F8A19711-1A40-6BD6-AEF2-2E24E162B41E}"/>
              </a:ext>
            </a:extLst>
          </p:cNvPr>
          <p:cNvSpPr txBox="1"/>
          <p:nvPr/>
        </p:nvSpPr>
        <p:spPr>
          <a:xfrm>
            <a:off x="941536" y="1512892"/>
            <a:ext cx="10360448" cy="1602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A tabela-verdade é uma ferramenta que testa todas as combinações possíveis de verdadeiro (V) e falso (F) para descobrir o resultado de uma expressão lógica.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70E31-3151-7F0E-F41A-DF8CA085F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240" y="3115831"/>
            <a:ext cx="4849520" cy="323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83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6590E-E13C-B9F3-E342-353F040E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9260FF12-EA68-95C9-C55C-D5DA9E966D4B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360DE82-BDC5-C8F6-2F52-60047A6E2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10DD24-8918-56F2-9007-CEA7C352AC04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i="0" u="none" dirty="0">
                <a:latin typeface="Montserrat"/>
              </a:rPr>
              <a:t>OPERAÇÕES LÓGICAS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9B59D36-752C-0A4B-D81F-FAD45A966F0B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48A95AE5-F7E7-7D9B-99B5-18F0DDD685A9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67F2B5C3-CEE8-C180-B45F-436D522056B9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534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D8014-E461-AFE8-23AA-5E900F26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0E9178D-A1D5-035A-6D88-C6BBADA8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E86723-49CD-4EAE-9719-7C45B63CD3BB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OPERAÇÕES LÓGICAS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D76CE60B-B3CB-164B-1D5D-A874F6CD0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3ED9E027-EE15-83F5-E74F-9028A8679346}"/>
              </a:ext>
            </a:extLst>
          </p:cNvPr>
          <p:cNvSpPr txBox="1"/>
          <p:nvPr/>
        </p:nvSpPr>
        <p:spPr>
          <a:xfrm>
            <a:off x="941536" y="1512892"/>
            <a:ext cx="10360448" cy="4326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Operações lógicas são as instruções que permitem ao computador comparar informações e tomar decisões. Elas são utilizadas sempre que um programa precisa verificar condições.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Para construí-las utilizamos os conectivos, sendo as operações lógicas fundamentais: negação, conjunção, disjunção, disjunção exclusiva, condicional e bicondicional.</a:t>
            </a:r>
          </a:p>
        </p:txBody>
      </p:sp>
    </p:spTree>
    <p:extLst>
      <p:ext uri="{BB962C8B-B14F-4D97-AF65-F5344CB8AC3E}">
        <p14:creationId xmlns:p14="http://schemas.microsoft.com/office/powerpoint/2010/main" val="8400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A0F8-532A-7755-A2D9-2082BABA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3EEB45E-4340-6DC6-75AA-D295134DC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225FF4-3A14-134D-09F7-0E51A850F87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NEGAÇÃO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81B2E069-EB22-665C-8B3A-3A0E242BA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3DF95897-BD80-3D6E-E62A-61734D77F5EF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Esta operação representa o valor lógico oposto de uma dada proposição. Ou seja, se uma premissa é verdadeira ela se torna falsa e o mesmo vale para o contrário, se uma premissa é falsa ela se torna verdadeira.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7" name="Picture 6" descr="Lógica Matemática - Toda Matéria">
            <a:extLst>
              <a:ext uri="{FF2B5EF4-FFF2-40B4-BE49-F238E27FC236}">
                <a16:creationId xmlns:a16="http://schemas.microsoft.com/office/drawing/2014/main" id="{436DB2AE-C57F-7D41-5912-43582E97B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886" y="3652111"/>
            <a:ext cx="3513747" cy="273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876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DBFD-4104-FBDF-2B64-2DBC047D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114F071-F538-FBE9-7900-712ECB7F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F17680-832D-4176-2883-96C4F1E4763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CONJUNÇÃO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7263BFD7-F726-164E-068D-2862CC085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82BA9C47-F011-9A99-2100-8F34C8A092EA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Na programação, a conjunção é usada quando uma ação depende de várias condições ao mesmo tempo. O programa só executa essa ação se todas forem verdadeiras.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4" name="Picture 2" descr=" ">
            <a:extLst>
              <a:ext uri="{FF2B5EF4-FFF2-40B4-BE49-F238E27FC236}">
                <a16:creationId xmlns:a16="http://schemas.microsoft.com/office/drawing/2014/main" id="{6E715F63-162E-5F2F-4A28-08CC9B52E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110" y="3845688"/>
            <a:ext cx="2662731" cy="23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27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743B5-8B0C-8DC3-F4BE-6E49BABE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1DC661E-FBBC-FA27-221F-8F6CD22F1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2ABEED-9B91-4F77-D3D1-6E42B447AE3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DISJUNÇÃO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CAD2FCA-A1AA-3701-0079-6CAC304E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65258F70-3FFF-1F2D-8FAE-0B19D4FF31A5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Na programação, a disjunção é utilizada quando existem diferentes caminhos para que uma ação aconteça. Se pelo menos uma das condições for verdadeira, o programa poderá continuar.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5" name="Picture 4" descr=" ">
            <a:extLst>
              <a:ext uri="{FF2B5EF4-FFF2-40B4-BE49-F238E27FC236}">
                <a16:creationId xmlns:a16="http://schemas.microsoft.com/office/drawing/2014/main" id="{5B5CD87D-6A90-573F-9DEA-3137A81F5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290" y="3623663"/>
            <a:ext cx="2950939" cy="261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762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FD79-0551-F74F-81ED-5AAFA0DF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6D6C789-2737-9191-7A74-85C7110C3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8E251B-7047-E965-8004-C31CFDB0A0B8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DISJUNÇÃO EXCLUSIVA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40D8B616-DB2D-4416-278A-FC39F440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F8C4832F-132C-B7DA-515D-EE604E26D1A5}"/>
              </a:ext>
            </a:extLst>
          </p:cNvPr>
          <p:cNvSpPr txBox="1"/>
          <p:nvPr/>
        </p:nvSpPr>
        <p:spPr>
          <a:xfrm>
            <a:off x="941536" y="1512892"/>
            <a:ext cx="10360448" cy="137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Nesta operação, o resultado será verdadeiro quando o valor da proposição p e q forem opostos. O operador utilizado será o XOR.</a:t>
            </a:r>
          </a:p>
        </p:txBody>
      </p:sp>
      <p:pic>
        <p:nvPicPr>
          <p:cNvPr id="4" name="Imagem 2">
            <a:extLst>
              <a:ext uri="{FF2B5EF4-FFF2-40B4-BE49-F238E27FC236}">
                <a16:creationId xmlns:a16="http://schemas.microsoft.com/office/drawing/2014/main" id="{8ED1C95D-D4EF-A839-E43D-E552D767846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44555" y="3330843"/>
            <a:ext cx="6302890" cy="258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61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E9EE-04C8-2518-ADC2-34C18934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6D78F65-29BE-571A-87CB-783178623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C49B2C-6738-CE71-04F6-6F66FC2D5626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CONDICIONAL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D962334-2474-24DF-9C86-3A6D7827E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98659EC-7B0B-88A1-6B7E-72BF33C0EED5}"/>
              </a:ext>
            </a:extLst>
          </p:cNvPr>
          <p:cNvSpPr txBox="1"/>
          <p:nvPr/>
        </p:nvSpPr>
        <p:spPr>
          <a:xfrm>
            <a:off x="941536" y="1512892"/>
            <a:ext cx="10360448" cy="2156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A condicional funciona como uma promessa: "Se uma condição acontecer, então outra também deve acontecer". Ela só é considerada falsa quando a promessa é quebrada, ou seja, quando a primeira condição é verdadeira e a segunda não acontece.</a:t>
            </a:r>
          </a:p>
        </p:txBody>
      </p:sp>
      <p:pic>
        <p:nvPicPr>
          <p:cNvPr id="5" name="Picture 4" descr="Objeção dor de estômago textura condicional logica proposicional ...">
            <a:extLst>
              <a:ext uri="{FF2B5EF4-FFF2-40B4-BE49-F238E27FC236}">
                <a16:creationId xmlns:a16="http://schemas.microsoft.com/office/drawing/2014/main" id="{FACBF0BA-8CF8-7328-EF17-5CC889427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614" y="3779463"/>
            <a:ext cx="3120772" cy="255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353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87CE3-9EA0-91BB-5CDE-4A242581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7454530-3327-9DF5-D5F0-7963B92B7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618D13-AD21-519D-CD41-FBDB7AC95BFB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BICONDICIONAL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B86ACA47-CA4F-92BF-9DB6-66592A7CB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0740DB2D-BD9C-89C5-7C94-60ED02754711}"/>
              </a:ext>
            </a:extLst>
          </p:cNvPr>
          <p:cNvSpPr txBox="1"/>
          <p:nvPr/>
        </p:nvSpPr>
        <p:spPr>
          <a:xfrm>
            <a:off x="941536" y="1512892"/>
            <a:ext cx="10360448" cy="1602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A bicondicional funciona como um acordo entre duas afirmações. Ela só é verdadeira quando as duas "concordam", ou seja, quando ambas são verdadeiras ou ambas são falsas.</a:t>
            </a:r>
          </a:p>
        </p:txBody>
      </p:sp>
      <p:pic>
        <p:nvPicPr>
          <p:cNvPr id="4" name="Picture 3" descr=" ">
            <a:extLst>
              <a:ext uri="{FF2B5EF4-FFF2-40B4-BE49-F238E27FC236}">
                <a16:creationId xmlns:a16="http://schemas.microsoft.com/office/drawing/2014/main" id="{1948B940-FC2B-8C34-B84D-D671B73D5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547" y="3325986"/>
            <a:ext cx="3594905" cy="2928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288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092E-19AF-2C55-09ED-B5A0836A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5F3DFC2-E1BA-A07E-0E5A-5D9BAAC7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75DD4A-21FE-7610-477E-6A5BCBD5C025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RESUMO DAS OPERAÇÕES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BACE6A6-9068-C58F-E85C-43DD5883E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pic>
        <p:nvPicPr>
          <p:cNvPr id="5" name="Imagem 2">
            <a:extLst>
              <a:ext uri="{FF2B5EF4-FFF2-40B4-BE49-F238E27FC236}">
                <a16:creationId xmlns:a16="http://schemas.microsoft.com/office/drawing/2014/main" id="{25DD3E5C-7B2F-28F3-9025-C950B2B3DF6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7036" y="2129388"/>
            <a:ext cx="10206879" cy="358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72AB9-2096-D42E-D417-61056E2B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2706493-59CE-05F3-88DD-A2B9529FB900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D100E76-4747-EE97-CEAA-CE0C4F4D9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588102-B020-EF42-760D-1F8B8052F980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i="0" u="none" dirty="0">
                <a:latin typeface="Montserrat"/>
              </a:rPr>
              <a:t>TAUTOLOGIA E CONTRADIÇÃO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D33DB94-CBFD-C8F0-682B-F3B994CAB22E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9BA9343D-07FE-2A30-CFB7-1F287BEFC3FE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F30F73DC-5752-D928-3349-A87171290F67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87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A4C2-2654-D6CB-C1E3-3C826741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0552E3C-3032-0164-9AD8-702E4DE1D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9F0E9C-19BA-D20A-E8B7-2E66D1386991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TAUTOLOGIA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51AD4BF8-2607-B028-302F-110E22F86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0D6701A0-06E0-11F4-B2C2-116A087C7F07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É toda proposição composta em cuja última coluna da sua tabela só aparece V(VERDADEIRO). Em outras palavras, independentemente do valor de p e q, R(resultado) é sempre verdade.</a:t>
            </a:r>
          </a:p>
        </p:txBody>
      </p:sp>
      <p:pic>
        <p:nvPicPr>
          <p:cNvPr id="5" name="Imagem 2">
            <a:extLst>
              <a:ext uri="{FF2B5EF4-FFF2-40B4-BE49-F238E27FC236}">
                <a16:creationId xmlns:a16="http://schemas.microsoft.com/office/drawing/2014/main" id="{8D440F1A-50BD-B82F-3F76-5C6FDB44D4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03963" y="3972299"/>
            <a:ext cx="4784073" cy="198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74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41E41-1A11-F13D-965B-C00BD6B0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660166D-25E4-4DA2-452E-B53AE245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EAB500-1540-0A46-DAB3-F9777136C09B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CONTRADIÇÃO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1D6BE8DC-4F68-6958-C7D0-5026EF537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DE0755AA-037A-D51B-DD70-E664E8E34CA1}"/>
              </a:ext>
            </a:extLst>
          </p:cNvPr>
          <p:cNvSpPr txBox="1"/>
          <p:nvPr/>
        </p:nvSpPr>
        <p:spPr>
          <a:xfrm>
            <a:off x="941536" y="1512892"/>
            <a:ext cx="10360448" cy="137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É toda proposição cuja última coluna só tem F (falso). Em outras palavras, não importa o valor de p e q, R (resultado) é sempre FALSO.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38AC4F-E926-952C-718B-7EDC0C6050B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67081" y="3238569"/>
            <a:ext cx="6109357" cy="254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60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8E5A-D5AA-70E7-6F34-30E119C58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92184882-6016-C1EE-9F52-7A94B2C90757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D0AB8B1-A7CF-5288-14E4-2AAE02FF5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EA3B1-D59B-AD18-73E6-8DB611068392}"/>
              </a:ext>
            </a:extLst>
          </p:cNvPr>
          <p:cNvSpPr txBox="1"/>
          <p:nvPr/>
        </p:nvSpPr>
        <p:spPr>
          <a:xfrm>
            <a:off x="0" y="2369939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DÚVIDAS?</a:t>
            </a:r>
            <a:endParaRPr sz="4800" b="1" i="0" u="none" dirty="0"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20E3A-39D4-F062-1A3F-47F77F0BF23B}"/>
              </a:ext>
            </a:extLst>
          </p:cNvPr>
          <p:cNvSpPr txBox="1"/>
          <p:nvPr/>
        </p:nvSpPr>
        <p:spPr>
          <a:xfrm>
            <a:off x="-8771" y="3901380"/>
            <a:ext cx="12200771" cy="36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pt-BR" sz="1950" b="1" dirty="0">
                <a:solidFill>
                  <a:srgbClr val="BF0000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thissiany.almeida@cps.sp.gov.br</a:t>
            </a:r>
            <a:endParaRPr sz="1950" b="1" dirty="0">
              <a:solidFill>
                <a:srgbClr val="B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B0530403-342D-B531-D352-41222C45BC06}"/>
              </a:ext>
            </a:extLst>
          </p:cNvPr>
          <p:cNvCxnSpPr>
            <a:cxnSpLocks/>
          </p:cNvCxnSpPr>
          <p:nvPr/>
        </p:nvCxnSpPr>
        <p:spPr>
          <a:xfrm>
            <a:off x="0" y="658368"/>
            <a:ext cx="1218322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198FAC8-DE8B-4202-E9B5-EC4707295A2C}"/>
              </a:ext>
            </a:extLst>
          </p:cNvPr>
          <p:cNvSpPr/>
          <p:nvPr/>
        </p:nvSpPr>
        <p:spPr>
          <a:xfrm>
            <a:off x="-8771" y="6271319"/>
            <a:ext cx="12192000" cy="57457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spaço Reservado para Rodapé 11">
            <a:extLst>
              <a:ext uri="{FF2B5EF4-FFF2-40B4-BE49-F238E27FC236}">
                <a16:creationId xmlns:a16="http://schemas.microsoft.com/office/drawing/2014/main" id="{7685845F-60F4-904C-AE66-12A51714D545}"/>
              </a:ext>
            </a:extLst>
          </p:cNvPr>
          <p:cNvSpPr txBox="1">
            <a:spLocks/>
          </p:cNvSpPr>
          <p:nvPr/>
        </p:nvSpPr>
        <p:spPr>
          <a:xfrm>
            <a:off x="7766620" y="6292623"/>
            <a:ext cx="2895600" cy="549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PROFª THISSIANY BEATRIZ ALMEIDA</a:t>
            </a:r>
          </a:p>
        </p:txBody>
      </p:sp>
      <p:sp>
        <p:nvSpPr>
          <p:cNvPr id="18" name="Espaço Reservado para Rodapé 11">
            <a:extLst>
              <a:ext uri="{FF2B5EF4-FFF2-40B4-BE49-F238E27FC236}">
                <a16:creationId xmlns:a16="http://schemas.microsoft.com/office/drawing/2014/main" id="{B12E2753-BB97-0E66-3B79-A7A9CC67E0B2}"/>
              </a:ext>
            </a:extLst>
          </p:cNvPr>
          <p:cNvSpPr txBox="1">
            <a:spLocks/>
          </p:cNvSpPr>
          <p:nvPr/>
        </p:nvSpPr>
        <p:spPr>
          <a:xfrm>
            <a:off x="1452878" y="6292623"/>
            <a:ext cx="5030536" cy="559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MATEMÁTICA PARA COMPUTAÇÃO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EE123A-1D20-9FDE-E6BC-0D17A7C20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00159"/>
            <a:ext cx="4693547" cy="72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3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A5309949B11C4CB16C511DFC2C6B89" ma:contentTypeVersion="0" ma:contentTypeDescription="Crie um novo documento." ma:contentTypeScope="" ma:versionID="0d67c841616bdc0e1459be166921358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FFF31B-0709-4026-A26B-8453C8FB0748}"/>
</file>

<file path=customXml/itemProps2.xml><?xml version="1.0" encoding="utf-8"?>
<ds:datastoreItem xmlns:ds="http://schemas.openxmlformats.org/officeDocument/2006/customXml" ds:itemID="{9C8DE231-3182-48BF-9E41-CB6970134B34}"/>
</file>

<file path=customXml/itemProps3.xml><?xml version="1.0" encoding="utf-8"?>
<ds:datastoreItem xmlns:ds="http://schemas.openxmlformats.org/officeDocument/2006/customXml" ds:itemID="{DC7CB039-90DA-466C-B4DF-65ED8874E611}"/>
</file>

<file path=docProps/app.xml><?xml version="1.0" encoding="utf-8"?>
<Properties xmlns="http://schemas.openxmlformats.org/officeDocument/2006/extended-properties" xmlns:vt="http://schemas.openxmlformats.org/officeDocument/2006/docPropsVTypes">
  <TotalTime>1930</TotalTime>
  <Words>967</Words>
  <Application>Microsoft Office PowerPoint</Application>
  <PresentationFormat>Widescreen</PresentationFormat>
  <Paragraphs>127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Montserrat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Thissiany</dc:creator>
  <cp:keywords/>
  <dc:description>generated using python-pptx</dc:description>
  <cp:lastModifiedBy>Thissiany</cp:lastModifiedBy>
  <cp:revision>7</cp:revision>
  <dcterms:created xsi:type="dcterms:W3CDTF">2013-01-27T09:14:16Z</dcterms:created>
  <dcterms:modified xsi:type="dcterms:W3CDTF">2026-08-03T22:02:53Z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0x010100E1A5309949B11C4CB16C511DFC2C6B89</vt:lpwstr>
  </property>
</Properties>
</file>